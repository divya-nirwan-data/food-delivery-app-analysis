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9B7"/>
    <a:srgbClr val="CC3300"/>
    <a:srgbClr val="DFC3E0"/>
    <a:srgbClr val="E51B63"/>
    <a:srgbClr val="CC00FF"/>
    <a:srgbClr val="FF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3F781-595B-4275-B233-FD3490342AA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E48FC-B3D0-4912-BDD5-879D74018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20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E48FC-B3D0-4912-BDD5-879D7401878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933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18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7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6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75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09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33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59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508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0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7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26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91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842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021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022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3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63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FD89296-A7F3-48B4-B0F6-2CC36940ED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81911FC-0C35-4776-9543-6E8EDDEDA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316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  <p:sldLayoutId id="2147483960" r:id="rId13"/>
    <p:sldLayoutId id="2147483961" r:id="rId14"/>
    <p:sldLayoutId id="2147483962" r:id="rId15"/>
    <p:sldLayoutId id="2147483963" r:id="rId16"/>
    <p:sldLayoutId id="214748396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21" Type="http://schemas.openxmlformats.org/officeDocument/2006/relationships/image" Target="../media/image49.sv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svg"/><Relationship Id="rId23" Type="http://schemas.openxmlformats.org/officeDocument/2006/relationships/image" Target="../media/image51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sv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sv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5F87E5-4D8A-09A8-F3FE-065025DDC7D0}"/>
              </a:ext>
            </a:extLst>
          </p:cNvPr>
          <p:cNvSpPr txBox="1"/>
          <p:nvPr/>
        </p:nvSpPr>
        <p:spPr>
          <a:xfrm>
            <a:off x="9144001" y="5982928"/>
            <a:ext cx="2821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 Rounded MT Bold" panose="020F0704030504030204" pitchFamily="34" charset="0"/>
              </a:rPr>
              <a:t>By Divya Nirwan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DF88C-29A8-C567-B186-BC7F6DB2BE9A}"/>
              </a:ext>
            </a:extLst>
          </p:cNvPr>
          <p:cNvSpPr txBox="1"/>
          <p:nvPr/>
        </p:nvSpPr>
        <p:spPr>
          <a:xfrm>
            <a:off x="491612" y="595511"/>
            <a:ext cx="718738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Rounded MT Bold" panose="020F0704030504030204" pitchFamily="34" charset="0"/>
              </a:rPr>
              <a:t>Food Delivery App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83B2F-F6DD-87E4-144C-76860C48856C}"/>
              </a:ext>
            </a:extLst>
          </p:cNvPr>
          <p:cNvSpPr txBox="1"/>
          <p:nvPr/>
        </p:nvSpPr>
        <p:spPr>
          <a:xfrm>
            <a:off x="491612" y="2013228"/>
            <a:ext cx="685308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Transforming raw transactional data into actionable business intelligence through advanced SQL analysis and interactive visualization.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13D5-3CFE-D0BD-E6C8-29C7B3A879A0}"/>
              </a:ext>
            </a:extLst>
          </p:cNvPr>
          <p:cNvSpPr txBox="1"/>
          <p:nvPr/>
        </p:nvSpPr>
        <p:spPr>
          <a:xfrm>
            <a:off x="442451" y="1257230"/>
            <a:ext cx="614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Data Analytics Capstone Project</a:t>
            </a:r>
          </a:p>
          <a:p>
            <a:endParaRPr lang="en-IN" dirty="0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37FE6E41-C088-CC69-BBFE-D37EE4B849CB}"/>
              </a:ext>
            </a:extLst>
          </p:cNvPr>
          <p:cNvSpPr/>
          <p:nvPr/>
        </p:nvSpPr>
        <p:spPr>
          <a:xfrm>
            <a:off x="491612" y="5112775"/>
            <a:ext cx="2389240" cy="658761"/>
          </a:xfrm>
          <a:prstGeom prst="flowChartTerminator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8C823D-1FF6-884A-9727-CE5562659A8B}"/>
              </a:ext>
            </a:extLst>
          </p:cNvPr>
          <p:cNvSpPr txBox="1"/>
          <p:nvPr/>
        </p:nvSpPr>
        <p:spPr>
          <a:xfrm>
            <a:off x="943897" y="5242100"/>
            <a:ext cx="1936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SQL / MYSQL</a:t>
            </a:r>
            <a:endParaRPr lang="en-IN" sz="2000" b="1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20E941F9-E2F3-DA82-8CB6-01C745247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140" y="5148103"/>
            <a:ext cx="523567" cy="523567"/>
          </a:xfrm>
          <a:prstGeom prst="rect">
            <a:avLst/>
          </a:prstGeom>
        </p:spPr>
      </p:pic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1A5E63D9-4768-D33C-A177-47FE7E18C958}"/>
              </a:ext>
            </a:extLst>
          </p:cNvPr>
          <p:cNvSpPr/>
          <p:nvPr/>
        </p:nvSpPr>
        <p:spPr>
          <a:xfrm>
            <a:off x="5549080" y="5080505"/>
            <a:ext cx="2617838" cy="658761"/>
          </a:xfrm>
          <a:prstGeom prst="flowChartTerminator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77EC3604-8FEB-FCBC-D6EE-1786B03EE6D2}"/>
              </a:ext>
            </a:extLst>
          </p:cNvPr>
          <p:cNvSpPr/>
          <p:nvPr/>
        </p:nvSpPr>
        <p:spPr>
          <a:xfrm>
            <a:off x="2996380" y="5112775"/>
            <a:ext cx="2389240" cy="658761"/>
          </a:xfrm>
          <a:prstGeom prst="flowChartTerminator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676583-03FE-ADF4-FE18-6A3E826B1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609" y="5195100"/>
            <a:ext cx="508817" cy="494108"/>
          </a:xfrm>
          <a:prstGeom prst="rect">
            <a:avLst/>
          </a:prstGeom>
        </p:spPr>
      </p:pic>
      <p:sp>
        <p:nvSpPr>
          <p:cNvPr id="17" name="AutoShape 2" descr="Uploaded image">
            <a:extLst>
              <a:ext uri="{FF2B5EF4-FFF2-40B4-BE49-F238E27FC236}">
                <a16:creationId xmlns:a16="http://schemas.microsoft.com/office/drawing/2014/main" id="{36D6DA29-833A-0693-2220-1468798E7F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88293" y="32766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E3A277-498D-A068-0593-25A16A93A56B}"/>
              </a:ext>
            </a:extLst>
          </p:cNvPr>
          <p:cNvSpPr txBox="1"/>
          <p:nvPr/>
        </p:nvSpPr>
        <p:spPr>
          <a:xfrm>
            <a:off x="3637935" y="5202311"/>
            <a:ext cx="155103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50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Power BI</a:t>
            </a:r>
            <a:endParaRPr lang="en-IN" sz="2450" b="1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34A983-7FD2-1BC5-372F-E8CD9EA60086}"/>
              </a:ext>
            </a:extLst>
          </p:cNvPr>
          <p:cNvSpPr txBox="1"/>
          <p:nvPr/>
        </p:nvSpPr>
        <p:spPr>
          <a:xfrm>
            <a:off x="6203851" y="5202311"/>
            <a:ext cx="2025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Data Analytics</a:t>
            </a:r>
            <a:endParaRPr lang="en-IN" sz="2000" b="1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3" name="Graphic 22" descr="Upward trend with solid fill">
            <a:extLst>
              <a:ext uri="{FF2B5EF4-FFF2-40B4-BE49-F238E27FC236}">
                <a16:creationId xmlns:a16="http://schemas.microsoft.com/office/drawing/2014/main" id="{B062DDE2-9D30-3A13-560C-78E2E5CA2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42999" y="5080505"/>
            <a:ext cx="594783" cy="5947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565B97F-8439-A970-566F-2F02DC8FF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632" y="184854"/>
            <a:ext cx="4412226" cy="450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5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D4598-9AC7-7A36-AEF7-E926711CC5E3}"/>
              </a:ext>
            </a:extLst>
          </p:cNvPr>
          <p:cNvSpPr txBox="1"/>
          <p:nvPr/>
        </p:nvSpPr>
        <p:spPr>
          <a:xfrm>
            <a:off x="501445" y="346168"/>
            <a:ext cx="5594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 Rounded MT Bold" panose="020F0704030504030204" pitchFamily="34" charset="0"/>
              </a:rPr>
              <a:t>Business Objective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7F5A6F-E7C5-8386-44E5-9D7FD0F7E238}"/>
              </a:ext>
            </a:extLst>
          </p:cNvPr>
          <p:cNvSpPr/>
          <p:nvPr/>
        </p:nvSpPr>
        <p:spPr>
          <a:xfrm>
            <a:off x="501445" y="1172222"/>
            <a:ext cx="9822426" cy="1210216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D9F50-222E-CF35-6E7C-30AFAC9FDE3B}"/>
              </a:ext>
            </a:extLst>
          </p:cNvPr>
          <p:cNvSpPr txBox="1"/>
          <p:nvPr/>
        </p:nvSpPr>
        <p:spPr>
          <a:xfrm>
            <a:off x="585019" y="1269498"/>
            <a:ext cx="95569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cap="all" dirty="0">
                <a:effectLst/>
                <a:latin typeface="Poppins" panose="00000500000000000000" pitchFamily="2" charset="0"/>
              </a:rPr>
              <a:t>Primary Goal</a:t>
            </a:r>
          </a:p>
          <a:p>
            <a:pPr algn="l">
              <a:buNone/>
            </a:pPr>
            <a:r>
              <a:rPr lang="en-US" b="0" i="0" dirty="0">
                <a:effectLst/>
                <a:latin typeface="Century" panose="02040604050505020304" pitchFamily="18" charset="0"/>
              </a:rPr>
              <a:t>Analyze food delivery platform performance to drive</a:t>
            </a:r>
            <a:r>
              <a:rPr lang="en-US" b="0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 </a:t>
            </a:r>
            <a:r>
              <a:rPr lang="en-US" b="1" i="0" dirty="0">
                <a:solidFill>
                  <a:srgbClr val="2563EB"/>
                </a:solidFill>
                <a:effectLst/>
                <a:latin typeface="Century" panose="02040604050505020304" pitchFamily="18" charset="0"/>
              </a:rPr>
              <a:t>data-driven decisions</a:t>
            </a:r>
            <a:r>
              <a:rPr lang="en-US" b="0" i="0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 </a:t>
            </a:r>
            <a:r>
              <a:rPr lang="en-US" b="0" i="0" dirty="0">
                <a:effectLst/>
                <a:latin typeface="Century" panose="02040604050505020304" pitchFamily="18" charset="0"/>
              </a:rPr>
              <a:t>and optimize operational efficiency.</a:t>
            </a:r>
          </a:p>
        </p:txBody>
      </p:sp>
      <p:pic>
        <p:nvPicPr>
          <p:cNvPr id="2050" name="Picture 2" descr="Money Bag Vector PNG Cutout | PNG All">
            <a:extLst>
              <a:ext uri="{FF2B5EF4-FFF2-40B4-BE49-F238E27FC236}">
                <a16:creationId xmlns:a16="http://schemas.microsoft.com/office/drawing/2014/main" id="{884DBDAA-F0EC-638F-579A-F17075206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45" y="2964084"/>
            <a:ext cx="744793" cy="8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5A6F7BE7-5589-2D5B-CAE7-E12D187FC84B}"/>
              </a:ext>
            </a:extLst>
          </p:cNvPr>
          <p:cNvSpPr/>
          <p:nvPr/>
        </p:nvSpPr>
        <p:spPr>
          <a:xfrm>
            <a:off x="1794387" y="2790046"/>
            <a:ext cx="4326194" cy="1210216"/>
          </a:xfrm>
          <a:prstGeom prst="round2DiagRect">
            <a:avLst/>
          </a:prstGeom>
          <a:noFill/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310EF0-921C-098C-2549-BACABDAB3BA2}"/>
              </a:ext>
            </a:extLst>
          </p:cNvPr>
          <p:cNvSpPr/>
          <p:nvPr/>
        </p:nvSpPr>
        <p:spPr>
          <a:xfrm>
            <a:off x="397591" y="2810562"/>
            <a:ext cx="1189703" cy="1210216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99081-FC16-7030-B18A-6435289A806B}"/>
              </a:ext>
            </a:extLst>
          </p:cNvPr>
          <p:cNvSpPr txBox="1"/>
          <p:nvPr/>
        </p:nvSpPr>
        <p:spPr>
          <a:xfrm>
            <a:off x="1976899" y="28180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oppins" panose="00000500000000000000" pitchFamily="2" charset="0"/>
              </a:rPr>
              <a:t>Revenue Optimization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6D4FC3-B340-70DE-8CC5-F76EAA9396BA}"/>
              </a:ext>
            </a:extLst>
          </p:cNvPr>
          <p:cNvSpPr txBox="1"/>
          <p:nvPr/>
        </p:nvSpPr>
        <p:spPr>
          <a:xfrm>
            <a:off x="1976899" y="3143153"/>
            <a:ext cx="4326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>
                    <a:lumMod val="95000"/>
                  </a:schemeClr>
                </a:solidFill>
                <a:effectLst/>
                <a:latin typeface="Poppins" panose="00000500000000000000" pitchFamily="2" charset="0"/>
              </a:rPr>
              <a:t>Deep dive into commission analysis, revenue streams, and profitability across different segments.</a:t>
            </a:r>
            <a:endParaRPr lang="en-IN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2192A7-9A7E-1B16-0F5E-458B35E1259E}"/>
              </a:ext>
            </a:extLst>
          </p:cNvPr>
          <p:cNvSpPr/>
          <p:nvPr/>
        </p:nvSpPr>
        <p:spPr>
          <a:xfrm>
            <a:off x="397591" y="4956734"/>
            <a:ext cx="1189703" cy="1210216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A7C176-7D1E-E62E-79E9-74AE73254A62}"/>
              </a:ext>
            </a:extLst>
          </p:cNvPr>
          <p:cNvSpPr/>
          <p:nvPr/>
        </p:nvSpPr>
        <p:spPr>
          <a:xfrm>
            <a:off x="6410632" y="2765635"/>
            <a:ext cx="1189703" cy="1210216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D9C0AB-5502-AB92-DCEC-5A38BCD4514F}"/>
              </a:ext>
            </a:extLst>
          </p:cNvPr>
          <p:cNvSpPr/>
          <p:nvPr/>
        </p:nvSpPr>
        <p:spPr>
          <a:xfrm>
            <a:off x="6410631" y="4918681"/>
            <a:ext cx="1189703" cy="1210216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1F84D915-5D7C-0445-8659-7612509A07A0}"/>
              </a:ext>
            </a:extLst>
          </p:cNvPr>
          <p:cNvSpPr/>
          <p:nvPr/>
        </p:nvSpPr>
        <p:spPr>
          <a:xfrm>
            <a:off x="1769806" y="4918681"/>
            <a:ext cx="4326194" cy="1210216"/>
          </a:xfrm>
          <a:prstGeom prst="round2DiagRect">
            <a:avLst/>
          </a:prstGeom>
          <a:noFill/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AF38455B-F2CB-6257-4DDA-AB71761DF493}"/>
              </a:ext>
            </a:extLst>
          </p:cNvPr>
          <p:cNvSpPr/>
          <p:nvPr/>
        </p:nvSpPr>
        <p:spPr>
          <a:xfrm>
            <a:off x="7737986" y="4918681"/>
            <a:ext cx="4326194" cy="1210216"/>
          </a:xfrm>
          <a:prstGeom prst="round2DiagRect">
            <a:avLst/>
          </a:prstGeom>
          <a:noFill/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A1CF7AFD-0AB4-85E4-E46A-69EEFDE05A76}"/>
              </a:ext>
            </a:extLst>
          </p:cNvPr>
          <p:cNvSpPr/>
          <p:nvPr/>
        </p:nvSpPr>
        <p:spPr>
          <a:xfrm>
            <a:off x="7707874" y="2757551"/>
            <a:ext cx="4326194" cy="1210216"/>
          </a:xfrm>
          <a:prstGeom prst="round2DiagRect">
            <a:avLst/>
          </a:prstGeom>
          <a:noFill/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Graphic 21" descr="Users with solid fill">
            <a:extLst>
              <a:ext uri="{FF2B5EF4-FFF2-40B4-BE49-F238E27FC236}">
                <a16:creationId xmlns:a16="http://schemas.microsoft.com/office/drawing/2014/main" id="{A99C0D86-6F37-B7BE-5DAC-AF4CED850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8282" y="2905459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B277A54-7D22-4CC5-AFFD-0785F883A877}"/>
              </a:ext>
            </a:extLst>
          </p:cNvPr>
          <p:cNvSpPr txBox="1"/>
          <p:nvPr/>
        </p:nvSpPr>
        <p:spPr>
          <a:xfrm>
            <a:off x="7890386" y="27705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oppins" panose="00000500000000000000" pitchFamily="2" charset="0"/>
              </a:rPr>
              <a:t>Customer Behaviour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A2F947-CFF4-54CB-E10D-22A37D225899}"/>
              </a:ext>
            </a:extLst>
          </p:cNvPr>
          <p:cNvSpPr txBox="1"/>
          <p:nvPr/>
        </p:nvSpPr>
        <p:spPr>
          <a:xfrm>
            <a:off x="7918959" y="3060140"/>
            <a:ext cx="39040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>
                    <a:lumMod val="95000"/>
                  </a:schemeClr>
                </a:solidFill>
                <a:effectLst/>
                <a:latin typeface="Poppins" panose="00000500000000000000" pitchFamily="2" charset="0"/>
              </a:rPr>
              <a:t>Identify retention patterns, high-value customer segments, and purchasing habits.</a:t>
            </a:r>
            <a:endParaRPr lang="en-IN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1026" name="Picture 2" descr="bike and biker logo vector bike biker logo png">
            <a:extLst>
              <a:ext uri="{FF2B5EF4-FFF2-40B4-BE49-F238E27FC236}">
                <a16:creationId xmlns:a16="http://schemas.microsoft.com/office/drawing/2014/main" id="{263FC59F-5F93-192B-8F2A-4D8454574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45" y="5086039"/>
            <a:ext cx="951605" cy="95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4F65DB1-A95F-626E-3330-5143A938D949}"/>
              </a:ext>
            </a:extLst>
          </p:cNvPr>
          <p:cNvSpPr txBox="1"/>
          <p:nvPr/>
        </p:nvSpPr>
        <p:spPr>
          <a:xfrm>
            <a:off x="1976899" y="4966130"/>
            <a:ext cx="6990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oppins" panose="00000500000000000000" pitchFamily="2" charset="0"/>
              </a:rPr>
              <a:t>Partner Performance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38E89A-F267-9B45-5B0B-40189B2D05E6}"/>
              </a:ext>
            </a:extLst>
          </p:cNvPr>
          <p:cNvSpPr txBox="1"/>
          <p:nvPr/>
        </p:nvSpPr>
        <p:spPr>
          <a:xfrm>
            <a:off x="1976899" y="5298538"/>
            <a:ext cx="42278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>
                    <a:lumMod val="95000"/>
                  </a:schemeClr>
                </a:solidFill>
                <a:effectLst/>
                <a:latin typeface="Poppins" panose="00000500000000000000" pitchFamily="2" charset="0"/>
              </a:rPr>
              <a:t>Evaluate restaurant ratings, delivery partner efficiency, and vehicle utilization.</a:t>
            </a:r>
            <a:endParaRPr lang="en-IN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499A6594-CE21-39D0-BC35-FF71275604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8616" y="5066589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B1A2167-FA9D-D859-D4C3-C51538CBE839}"/>
              </a:ext>
            </a:extLst>
          </p:cNvPr>
          <p:cNvSpPr txBox="1"/>
          <p:nvPr/>
        </p:nvSpPr>
        <p:spPr>
          <a:xfrm>
            <a:off x="8072899" y="4956734"/>
            <a:ext cx="6990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oppins" panose="00000500000000000000" pitchFamily="2" charset="0"/>
              </a:rPr>
              <a:t>Order Trends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298033-FBD6-D9C7-37DD-2D381784179E}"/>
              </a:ext>
            </a:extLst>
          </p:cNvPr>
          <p:cNvSpPr txBox="1"/>
          <p:nvPr/>
        </p:nvSpPr>
        <p:spPr>
          <a:xfrm>
            <a:off x="8072899" y="5270279"/>
            <a:ext cx="38634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>
                    <a:lumMod val="95000"/>
                  </a:schemeClr>
                </a:solidFill>
                <a:effectLst/>
                <a:latin typeface="Poppins" panose="00000500000000000000" pitchFamily="2" charset="0"/>
              </a:rPr>
              <a:t>Analyze temporal patterns, peak hours, and reasons behind order cancellations.</a:t>
            </a:r>
            <a:endParaRPr lang="en-IN" sz="16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13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227BBE-AB96-CE8C-7932-50BA939A22E1}"/>
              </a:ext>
            </a:extLst>
          </p:cNvPr>
          <p:cNvSpPr txBox="1"/>
          <p:nvPr/>
        </p:nvSpPr>
        <p:spPr>
          <a:xfrm>
            <a:off x="530941" y="4168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600" b="1" i="0" dirty="0">
                <a:effectLst/>
                <a:latin typeface="Arial Rounded MT Bold" panose="020F0704030504030204" pitchFamily="34" charset="0"/>
              </a:rPr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F127A-1626-9E26-B5AE-8DE87BDCDBC9}"/>
              </a:ext>
            </a:extLst>
          </p:cNvPr>
          <p:cNvSpPr txBox="1"/>
          <p:nvPr/>
        </p:nvSpPr>
        <p:spPr>
          <a:xfrm>
            <a:off x="530941" y="1063184"/>
            <a:ext cx="8406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Aptos" panose="020B0004020202020204" pitchFamily="34" charset="0"/>
              </a:rPr>
              <a:t>Comprehensive relational database consisting of 5 interconnected tables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81A842-4CBB-8F1F-0B32-0CDC84AE27E5}"/>
              </a:ext>
            </a:extLst>
          </p:cNvPr>
          <p:cNvSpPr/>
          <p:nvPr/>
        </p:nvSpPr>
        <p:spPr>
          <a:xfrm>
            <a:off x="530941" y="1737714"/>
            <a:ext cx="3667433" cy="2133600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sz="1900" dirty="0">
              <a:latin typeface="Aptos Display" panose="020B0004020202020204" pitchFamily="34" charset="0"/>
            </a:endParaRPr>
          </a:p>
          <a:p>
            <a:r>
              <a:rPr lang="en-US" sz="1900" dirty="0">
                <a:latin typeface="Aptos Display" panose="020B0004020202020204" pitchFamily="34" charset="0"/>
              </a:rPr>
              <a:t>  </a:t>
            </a:r>
            <a:endParaRPr lang="en-IN" sz="19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65800-87F5-4618-8AC7-F5581E689C0C}"/>
              </a:ext>
            </a:extLst>
          </p:cNvPr>
          <p:cNvSpPr txBox="1"/>
          <p:nvPr/>
        </p:nvSpPr>
        <p:spPr>
          <a:xfrm>
            <a:off x="707923" y="2189572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500" b="1" i="0" dirty="0">
                <a:effectLst/>
                <a:latin typeface="Aptos" panose="020B0004020202020204" pitchFamily="34" charset="0"/>
              </a:rPr>
              <a:t>Orders Table</a:t>
            </a:r>
          </a:p>
        </p:txBody>
      </p:sp>
      <p:pic>
        <p:nvPicPr>
          <p:cNvPr id="2050" name="Picture 2" descr="High-Quality Cart Icon SVG and PNG for Your Website">
            <a:extLst>
              <a:ext uri="{FF2B5EF4-FFF2-40B4-BE49-F238E27FC236}">
                <a16:creationId xmlns:a16="http://schemas.microsoft.com/office/drawing/2014/main" id="{694429E2-F1AE-24F7-EF88-7E1C051BA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00" y="1820240"/>
            <a:ext cx="424371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35E81E-DD14-44FB-103F-C24112972719}"/>
              </a:ext>
            </a:extLst>
          </p:cNvPr>
          <p:cNvSpPr txBox="1"/>
          <p:nvPr/>
        </p:nvSpPr>
        <p:spPr>
          <a:xfrm>
            <a:off x="707923" y="2558904"/>
            <a:ext cx="34904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Transactional data containing      order IDs, dates, amounts, status (delivered/cancelled), and partner assignments</a:t>
            </a:r>
            <a:r>
              <a:rPr lang="en-US" dirty="0"/>
              <a:t>.</a:t>
            </a:r>
            <a:endParaRPr lang="en-IN" b="1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B17B21-66F4-EF9E-B07D-52085E82563B}"/>
              </a:ext>
            </a:extLst>
          </p:cNvPr>
          <p:cNvSpPr txBox="1"/>
          <p:nvPr/>
        </p:nvSpPr>
        <p:spPr>
          <a:xfrm>
            <a:off x="2856270" y="1857829"/>
            <a:ext cx="1115962" cy="33855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ptos Display" panose="020B0004020202020204" pitchFamily="34" charset="0"/>
              </a:rPr>
              <a:t>Core Table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E8362A-159A-7B89-DF8F-6CF6CD97BA7D}"/>
              </a:ext>
            </a:extLst>
          </p:cNvPr>
          <p:cNvSpPr/>
          <p:nvPr/>
        </p:nvSpPr>
        <p:spPr>
          <a:xfrm>
            <a:off x="4474547" y="1737714"/>
            <a:ext cx="3667433" cy="2133600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sz="1900" dirty="0">
              <a:latin typeface="Aptos Display" panose="020B0004020202020204" pitchFamily="34" charset="0"/>
            </a:endParaRPr>
          </a:p>
          <a:p>
            <a:r>
              <a:rPr lang="en-US" sz="1900" dirty="0">
                <a:latin typeface="Aptos Display" panose="020B0004020202020204" pitchFamily="34" charset="0"/>
              </a:rPr>
              <a:t>  </a:t>
            </a:r>
            <a:endParaRPr lang="en-IN" sz="19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98A83F-6C11-F36C-56EF-960D0B08DA7F}"/>
              </a:ext>
            </a:extLst>
          </p:cNvPr>
          <p:cNvSpPr/>
          <p:nvPr/>
        </p:nvSpPr>
        <p:spPr>
          <a:xfrm>
            <a:off x="8368122" y="1709515"/>
            <a:ext cx="3667433" cy="2133600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sz="1900" dirty="0">
              <a:latin typeface="Aptos Display" panose="020B0004020202020204" pitchFamily="34" charset="0"/>
            </a:endParaRPr>
          </a:p>
          <a:p>
            <a:r>
              <a:rPr lang="en-US" sz="1900" dirty="0">
                <a:latin typeface="Aptos Display" panose="020B0004020202020204" pitchFamily="34" charset="0"/>
              </a:rPr>
              <a:t>  </a:t>
            </a:r>
            <a:endParaRPr lang="en-IN" sz="1900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262C41-3CCC-D506-06F8-1EE3F8B0DCDC}"/>
              </a:ext>
            </a:extLst>
          </p:cNvPr>
          <p:cNvSpPr/>
          <p:nvPr/>
        </p:nvSpPr>
        <p:spPr>
          <a:xfrm>
            <a:off x="8436077" y="4233835"/>
            <a:ext cx="3667433" cy="2133600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sz="1900" dirty="0">
              <a:latin typeface="Aptos Display" panose="020B0004020202020204" pitchFamily="34" charset="0"/>
            </a:endParaRPr>
          </a:p>
          <a:p>
            <a:r>
              <a:rPr lang="en-US" sz="1900" dirty="0">
                <a:latin typeface="Aptos Display" panose="020B0004020202020204" pitchFamily="34" charset="0"/>
              </a:rPr>
              <a:t>  </a:t>
            </a:r>
            <a:endParaRPr lang="en-IN" sz="19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4EE531-C385-8230-6666-CE32ABE19562}"/>
              </a:ext>
            </a:extLst>
          </p:cNvPr>
          <p:cNvSpPr/>
          <p:nvPr/>
        </p:nvSpPr>
        <p:spPr>
          <a:xfrm>
            <a:off x="4449531" y="4233835"/>
            <a:ext cx="3667433" cy="2133600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sz="1900" dirty="0">
              <a:latin typeface="Aptos Display" panose="020B0004020202020204" pitchFamily="34" charset="0"/>
            </a:endParaRPr>
          </a:p>
          <a:p>
            <a:r>
              <a:rPr lang="en-US" sz="1900" dirty="0">
                <a:latin typeface="Aptos Display" panose="020B0004020202020204" pitchFamily="34" charset="0"/>
              </a:rPr>
              <a:t>  </a:t>
            </a:r>
            <a:endParaRPr lang="en-IN" sz="1900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CFF9D6-4018-69EF-59C3-6703E4A080FD}"/>
              </a:ext>
            </a:extLst>
          </p:cNvPr>
          <p:cNvSpPr/>
          <p:nvPr/>
        </p:nvSpPr>
        <p:spPr>
          <a:xfrm>
            <a:off x="530940" y="4233835"/>
            <a:ext cx="3667433" cy="2133600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sz="1900" dirty="0">
              <a:latin typeface="Aptos Display" panose="020B0004020202020204" pitchFamily="34" charset="0"/>
            </a:endParaRPr>
          </a:p>
          <a:p>
            <a:r>
              <a:rPr lang="en-US" sz="1900" dirty="0">
                <a:latin typeface="Aptos Display" panose="020B0004020202020204" pitchFamily="34" charset="0"/>
              </a:rPr>
              <a:t>  </a:t>
            </a:r>
            <a:endParaRPr lang="en-IN" sz="19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713EC3-7CDC-41FC-0800-02ED8AD22EC0}"/>
              </a:ext>
            </a:extLst>
          </p:cNvPr>
          <p:cNvSpPr txBox="1"/>
          <p:nvPr/>
        </p:nvSpPr>
        <p:spPr>
          <a:xfrm>
            <a:off x="4646611" y="2188466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500" b="1" i="0" dirty="0">
                <a:effectLst/>
                <a:latin typeface="Aptos" panose="020B0004020202020204" pitchFamily="34" charset="0"/>
              </a:rPr>
              <a:t>Customers 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C4E682-39E3-F8C9-3355-ADF99BEC042F}"/>
              </a:ext>
            </a:extLst>
          </p:cNvPr>
          <p:cNvSpPr txBox="1"/>
          <p:nvPr/>
        </p:nvSpPr>
        <p:spPr>
          <a:xfrm>
            <a:off x="4646611" y="2558904"/>
            <a:ext cx="3323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Customer demographics including unique identifiers, names, cities, and registration details.</a:t>
            </a:r>
            <a:endParaRPr lang="en-IN" dirty="0">
              <a:solidFill>
                <a:schemeClr val="tx1">
                  <a:lumMod val="95000"/>
                </a:schemeClr>
              </a:solidFill>
              <a:latin typeface="Aptos Display" panose="020B0004020202020204" pitchFamily="34" charset="0"/>
            </a:endParaRPr>
          </a:p>
        </p:txBody>
      </p:sp>
      <p:pic>
        <p:nvPicPr>
          <p:cNvPr id="22" name="Graphic 21" descr="Users with solid fill">
            <a:extLst>
              <a:ext uri="{FF2B5EF4-FFF2-40B4-BE49-F238E27FC236}">
                <a16:creationId xmlns:a16="http://schemas.microsoft.com/office/drawing/2014/main" id="{CCFC4F91-8C66-31AE-6077-9978574E8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4231" y="1722316"/>
            <a:ext cx="555524" cy="55552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4AAD2DD-39D7-0F0C-E240-22B7DC54441A}"/>
              </a:ext>
            </a:extLst>
          </p:cNvPr>
          <p:cNvSpPr txBox="1"/>
          <p:nvPr/>
        </p:nvSpPr>
        <p:spPr>
          <a:xfrm>
            <a:off x="8436077" y="2316472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500" b="1" i="0" dirty="0">
                <a:effectLst/>
                <a:latin typeface="Aptos" panose="020B0004020202020204" pitchFamily="34" charset="0"/>
              </a:rPr>
              <a:t>Restaurants Table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59E337-0610-9C06-0BCE-C0589960FA8F}"/>
              </a:ext>
            </a:extLst>
          </p:cNvPr>
          <p:cNvSpPr txBox="1"/>
          <p:nvPr/>
        </p:nvSpPr>
        <p:spPr>
          <a:xfrm>
            <a:off x="8451694" y="2745775"/>
            <a:ext cx="3263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Restaurant profiles featuring names, city locations, average ratings, and cuisine categories.</a:t>
            </a:r>
            <a:endParaRPr lang="en-IN" dirty="0">
              <a:solidFill>
                <a:schemeClr val="tx1">
                  <a:lumMod val="95000"/>
                </a:schemeClr>
              </a:solidFill>
              <a:latin typeface="Aptos Display" panose="020B0004020202020204" pitchFamily="34" charset="0"/>
            </a:endParaRPr>
          </a:p>
        </p:txBody>
      </p:sp>
      <p:pic>
        <p:nvPicPr>
          <p:cNvPr id="28" name="Graphic 27" descr="Fork and knife with solid fill">
            <a:extLst>
              <a:ext uri="{FF2B5EF4-FFF2-40B4-BE49-F238E27FC236}">
                <a16:creationId xmlns:a16="http://schemas.microsoft.com/office/drawing/2014/main" id="{3D575E40-5252-7D94-EA43-B7C53E74B6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8122" y="1755870"/>
            <a:ext cx="574536" cy="57453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C40B42D-3418-37D2-7378-C627CE107060}"/>
              </a:ext>
            </a:extLst>
          </p:cNvPr>
          <p:cNvSpPr txBox="1"/>
          <p:nvPr/>
        </p:nvSpPr>
        <p:spPr>
          <a:xfrm>
            <a:off x="707923" y="4847304"/>
            <a:ext cx="276908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500" b="1" i="0" dirty="0">
                <a:effectLst/>
                <a:latin typeface="Aptos" panose="020B0004020202020204" pitchFamily="34" charset="0"/>
              </a:rPr>
              <a:t>Delivery Partners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AFF14B3-0122-1049-694F-FB26072BA3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00" y="4408285"/>
            <a:ext cx="656301" cy="31502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BBE3C63-906A-6B12-961C-3609CFB99422}"/>
              </a:ext>
            </a:extLst>
          </p:cNvPr>
          <p:cNvSpPr txBox="1"/>
          <p:nvPr/>
        </p:nvSpPr>
        <p:spPr>
          <a:xfrm>
            <a:off x="707923" y="5300635"/>
            <a:ext cx="33528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Logistics data linking partners to vehicle types (bike/scooter) and performance metrics.</a:t>
            </a:r>
            <a:endParaRPr lang="en-IN" dirty="0">
              <a:solidFill>
                <a:schemeClr val="tx1">
                  <a:lumMod val="9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044BE6-A152-FCE1-4EEC-4BD4E62C8FE7}"/>
              </a:ext>
            </a:extLst>
          </p:cNvPr>
          <p:cNvSpPr txBox="1"/>
          <p:nvPr/>
        </p:nvSpPr>
        <p:spPr>
          <a:xfrm>
            <a:off x="4646611" y="4847304"/>
            <a:ext cx="215818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500" b="1" i="0" dirty="0">
                <a:effectLst/>
                <a:latin typeface="Aptos" panose="020B0004020202020204" pitchFamily="34" charset="0"/>
              </a:rPr>
              <a:t>Ratings Table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EB78DD-556D-6B00-3954-30F7DFE4CC83}"/>
              </a:ext>
            </a:extLst>
          </p:cNvPr>
          <p:cNvSpPr txBox="1"/>
          <p:nvPr/>
        </p:nvSpPr>
        <p:spPr>
          <a:xfrm>
            <a:off x="4646611" y="5324358"/>
            <a:ext cx="3235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Feedback loop data connecting orders to customer satisfaction scores and restaurant reviews.</a:t>
            </a:r>
            <a:endParaRPr lang="en-IN" dirty="0">
              <a:solidFill>
                <a:schemeClr val="tx1">
                  <a:lumMod val="95000"/>
                </a:schemeClr>
              </a:solidFill>
              <a:latin typeface="Aptos Display" panose="020B0004020202020204" pitchFamily="34" charset="0"/>
            </a:endParaRPr>
          </a:p>
        </p:txBody>
      </p:sp>
      <p:pic>
        <p:nvPicPr>
          <p:cNvPr id="41" name="Graphic 40" descr="Star with solid fill">
            <a:extLst>
              <a:ext uri="{FF2B5EF4-FFF2-40B4-BE49-F238E27FC236}">
                <a16:creationId xmlns:a16="http://schemas.microsoft.com/office/drawing/2014/main" id="{0434BF76-0DF7-CF0F-DB5B-64B3404C26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2083" y="4322066"/>
            <a:ext cx="477054" cy="477054"/>
          </a:xfrm>
          <a:prstGeom prst="rect">
            <a:avLst/>
          </a:prstGeom>
        </p:spPr>
      </p:pic>
      <p:pic>
        <p:nvPicPr>
          <p:cNvPr id="43" name="Graphic 42" descr="Clock with solid fill">
            <a:extLst>
              <a:ext uri="{FF2B5EF4-FFF2-40B4-BE49-F238E27FC236}">
                <a16:creationId xmlns:a16="http://schemas.microsoft.com/office/drawing/2014/main" id="{693817C7-EA38-725D-D612-151467F2BB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25344" y="4378603"/>
            <a:ext cx="556401" cy="47825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38493DF-3918-CBA0-80A6-E39D7D3FC9B9}"/>
              </a:ext>
            </a:extLst>
          </p:cNvPr>
          <p:cNvSpPr txBox="1"/>
          <p:nvPr/>
        </p:nvSpPr>
        <p:spPr>
          <a:xfrm>
            <a:off x="9222658" y="4378603"/>
            <a:ext cx="26143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500" b="1" i="0" dirty="0">
                <a:solidFill>
                  <a:srgbClr val="FFFFFF"/>
                </a:solidFill>
                <a:effectLst/>
                <a:latin typeface="Aptos" panose="020B0004020202020204" pitchFamily="34" charset="0"/>
              </a:rPr>
              <a:t>Time Period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0AF809-2BB8-B9F0-66C4-012021B9661A}"/>
              </a:ext>
            </a:extLst>
          </p:cNvPr>
          <p:cNvSpPr txBox="1"/>
          <p:nvPr/>
        </p:nvSpPr>
        <p:spPr>
          <a:xfrm>
            <a:off x="8648122" y="5011381"/>
            <a:ext cx="34102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The analysis covers multi-month transactional data to identify seasonal trends and growth patterns.</a:t>
            </a:r>
            <a:endParaRPr lang="en-IN" dirty="0">
              <a:solidFill>
                <a:schemeClr val="tx1">
                  <a:lumMod val="95000"/>
                </a:schemeClr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33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9F5C9B-352F-FE6E-645B-34E243C0F46B}"/>
              </a:ext>
            </a:extLst>
          </p:cNvPr>
          <p:cNvSpPr txBox="1"/>
          <p:nvPr/>
        </p:nvSpPr>
        <p:spPr>
          <a:xfrm>
            <a:off x="540773" y="90637"/>
            <a:ext cx="66072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4000" b="1" i="0" dirty="0">
                <a:effectLst/>
                <a:latin typeface="Arial Black" panose="020B0A04020102020204" pitchFamily="34" charset="0"/>
              </a:rPr>
              <a:t>Tools &amp;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3392C-A65A-34ED-BE07-B9DAA7CBCC50}"/>
              </a:ext>
            </a:extLst>
          </p:cNvPr>
          <p:cNvSpPr txBox="1"/>
          <p:nvPr/>
        </p:nvSpPr>
        <p:spPr>
          <a:xfrm>
            <a:off x="540773" y="798523"/>
            <a:ext cx="73348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Leveraging industry-standard tools for robust data processing and interactive visualization.</a:t>
            </a:r>
            <a:endParaRPr lang="en-IN" sz="2000" b="1" dirty="0">
              <a:solidFill>
                <a:schemeClr val="tx1">
                  <a:lumMod val="95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A9096E-167E-956F-AC62-425742184192}"/>
              </a:ext>
            </a:extLst>
          </p:cNvPr>
          <p:cNvSpPr txBox="1"/>
          <p:nvPr/>
        </p:nvSpPr>
        <p:spPr>
          <a:xfrm>
            <a:off x="2025445" y="1805572"/>
            <a:ext cx="5538509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Arial Black" panose="020B0A04020102020204" pitchFamily="34" charset="0"/>
              </a:rPr>
              <a:t>SQL (MySQL)</a:t>
            </a:r>
          </a:p>
          <a:p>
            <a:pPr algn="l">
              <a:buNone/>
            </a:pPr>
            <a:r>
              <a:rPr lang="en-US" sz="1900" b="1" i="0" cap="all" dirty="0">
                <a:solidFill>
                  <a:schemeClr val="tx2"/>
                </a:solidFill>
                <a:effectLst/>
                <a:latin typeface="Aptos Display" panose="020B0004020202020204" pitchFamily="34" charset="0"/>
              </a:rPr>
              <a:t>Data Engine</a:t>
            </a:r>
          </a:p>
          <a:p>
            <a:r>
              <a:rPr lang="en-US" sz="1600" b="1" dirty="0">
                <a:latin typeface="Aptos Display" panose="020B0004020202020204" pitchFamily="34" charset="0"/>
              </a:rPr>
              <a:t>Used for data extraction, joins, filtering, and aggregation from relational databases.</a:t>
            </a:r>
            <a:br>
              <a:rPr lang="en-US" sz="1600" b="1" dirty="0">
                <a:latin typeface="Aptos Display" panose="020B0004020202020204" pitchFamily="34" charset="0"/>
              </a:rPr>
            </a:br>
            <a:r>
              <a:rPr lang="en-US" sz="1600" b="1" dirty="0">
                <a:latin typeface="Aptos Display" panose="020B0004020202020204" pitchFamily="34" charset="0"/>
              </a:rPr>
              <a:t>Executes complex queries to handle large transactional datasets and prepares data for analysis.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40D56AD-2377-6514-F069-52A5D7C38B5C}"/>
              </a:ext>
            </a:extLst>
          </p:cNvPr>
          <p:cNvSpPr/>
          <p:nvPr/>
        </p:nvSpPr>
        <p:spPr>
          <a:xfrm>
            <a:off x="540773" y="1859526"/>
            <a:ext cx="6882582" cy="15694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07E7C1-D638-9A91-FED0-D9F2AF9E86A1}"/>
              </a:ext>
            </a:extLst>
          </p:cNvPr>
          <p:cNvCxnSpPr>
            <a:cxnSpLocks/>
          </p:cNvCxnSpPr>
          <p:nvPr/>
        </p:nvCxnSpPr>
        <p:spPr>
          <a:xfrm>
            <a:off x="570267" y="2005781"/>
            <a:ext cx="0" cy="123886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Database with solid fill">
            <a:extLst>
              <a:ext uri="{FF2B5EF4-FFF2-40B4-BE49-F238E27FC236}">
                <a16:creationId xmlns:a16="http://schemas.microsoft.com/office/drawing/2014/main" id="{3905CCF0-048A-7C2C-63C0-A2A6152CE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372" y="2045110"/>
            <a:ext cx="1203475" cy="1203475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86F97B1-104D-227D-9000-D0F1965B9524}"/>
              </a:ext>
            </a:extLst>
          </p:cNvPr>
          <p:cNvSpPr/>
          <p:nvPr/>
        </p:nvSpPr>
        <p:spPr>
          <a:xfrm>
            <a:off x="570267" y="3536908"/>
            <a:ext cx="6882582" cy="15694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23F28B2-D0C1-729E-6452-4A69F135EAAF}"/>
              </a:ext>
            </a:extLst>
          </p:cNvPr>
          <p:cNvSpPr/>
          <p:nvPr/>
        </p:nvSpPr>
        <p:spPr>
          <a:xfrm>
            <a:off x="599761" y="5214290"/>
            <a:ext cx="6882582" cy="15694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8A9996-E62B-FA82-D4F2-7610BA71C585}"/>
              </a:ext>
            </a:extLst>
          </p:cNvPr>
          <p:cNvSpPr txBox="1"/>
          <p:nvPr/>
        </p:nvSpPr>
        <p:spPr>
          <a:xfrm>
            <a:off x="2025445" y="3609958"/>
            <a:ext cx="6096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i="0" dirty="0">
                <a:effectLst/>
                <a:latin typeface="Arial Black" panose="020B0A04020102020204" pitchFamily="34" charset="0"/>
              </a:rPr>
              <a:t>Power BI</a:t>
            </a:r>
          </a:p>
          <a:p>
            <a:pPr algn="l">
              <a:buNone/>
            </a:pPr>
            <a:r>
              <a:rPr lang="en-IN" b="1" i="0" cap="all" dirty="0">
                <a:solidFill>
                  <a:srgbClr val="D97706"/>
                </a:solidFill>
                <a:effectLst/>
                <a:latin typeface="Poppins" panose="00000500000000000000" pitchFamily="2" charset="0"/>
              </a:rPr>
              <a:t>Visualization</a:t>
            </a:r>
          </a:p>
          <a:p>
            <a:pPr algn="l">
              <a:buNone/>
            </a:pPr>
            <a:r>
              <a:rPr lang="en-IN" sz="1600" b="1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Developed interactive dashboards with dynamic filtering. </a:t>
            </a:r>
          </a:p>
          <a:p>
            <a:pPr algn="l">
              <a:buNone/>
            </a:pPr>
            <a:r>
              <a:rPr lang="en-IN" sz="1600" b="1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Visualizes KPIs, trends, and geospatial data for stakeholder reporting.</a:t>
            </a:r>
          </a:p>
        </p:txBody>
      </p:sp>
      <p:pic>
        <p:nvPicPr>
          <p:cNvPr id="39" name="Graphic 38" descr="Pie chart with solid fill">
            <a:extLst>
              <a:ext uri="{FF2B5EF4-FFF2-40B4-BE49-F238E27FC236}">
                <a16:creationId xmlns:a16="http://schemas.microsoft.com/office/drawing/2014/main" id="{E39EA9CE-F7A2-77CE-DE9A-EA50B3891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372" y="3782117"/>
            <a:ext cx="1068399" cy="106839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5E5A97F-AA12-5CFA-C9F5-D37EF5138741}"/>
              </a:ext>
            </a:extLst>
          </p:cNvPr>
          <p:cNvSpPr txBox="1"/>
          <p:nvPr/>
        </p:nvSpPr>
        <p:spPr>
          <a:xfrm>
            <a:off x="2025445" y="5291141"/>
            <a:ext cx="6096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i="0" dirty="0">
                <a:effectLst/>
                <a:latin typeface="Arial Black" panose="020B0A04020102020204" pitchFamily="34" charset="0"/>
              </a:rPr>
              <a:t>Power </a:t>
            </a:r>
            <a:r>
              <a:rPr lang="en-IN" sz="2000" b="1" dirty="0">
                <a:latin typeface="Arial Black" panose="020B0A04020102020204" pitchFamily="34" charset="0"/>
              </a:rPr>
              <a:t>Query</a:t>
            </a:r>
            <a:endParaRPr lang="en-IN" sz="2000" b="1" i="0" dirty="0">
              <a:effectLst/>
              <a:latin typeface="Arial Black" panose="020B0A04020102020204" pitchFamily="34" charset="0"/>
            </a:endParaRPr>
          </a:p>
          <a:p>
            <a:pPr algn="l">
              <a:buNone/>
            </a:pPr>
            <a:r>
              <a:rPr lang="en-IN" b="1" i="0" cap="all" dirty="0">
                <a:solidFill>
                  <a:schemeClr val="accent3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Data transformation</a:t>
            </a:r>
          </a:p>
          <a:p>
            <a:r>
              <a:rPr lang="en-US" sz="1600" b="1" dirty="0">
                <a:solidFill>
                  <a:schemeClr val="tx1">
                    <a:lumMod val="95000"/>
                  </a:schemeClr>
                </a:solidFill>
                <a:latin typeface="Aptos Display" panose="020B0004020202020204" pitchFamily="34" charset="0"/>
              </a:rPr>
              <a:t>Performed data cleaning and transformation including:</a:t>
            </a:r>
          </a:p>
          <a:p>
            <a:r>
              <a:rPr lang="en-IN" sz="1600" b="1" dirty="0">
                <a:solidFill>
                  <a:schemeClr val="tx1">
                    <a:lumMod val="95000"/>
                  </a:schemeClr>
                </a:solidFill>
                <a:latin typeface="Aptos Display" panose="020B0004020202020204" pitchFamily="34" charset="0"/>
              </a:rPr>
              <a:t>Removing duplicates &amp; null values</a:t>
            </a:r>
          </a:p>
          <a:p>
            <a:r>
              <a:rPr lang="en-US" sz="1600" b="1" dirty="0">
                <a:solidFill>
                  <a:schemeClr val="tx1">
                    <a:lumMod val="95000"/>
                  </a:schemeClr>
                </a:solidFill>
                <a:latin typeface="Aptos Display" panose="020B0004020202020204" pitchFamily="34" charset="0"/>
              </a:rPr>
              <a:t>Standardizing formats before loading into Power BI</a:t>
            </a:r>
            <a:endParaRPr lang="en-IN" sz="1600" b="1" i="0" cap="all" dirty="0">
              <a:solidFill>
                <a:schemeClr val="tx1">
                  <a:lumMod val="95000"/>
                </a:schemeClr>
              </a:solidFill>
              <a:effectLst/>
              <a:latin typeface="Aptos Display" panose="020B00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9F7267-DFBB-0B2A-C323-8FCBF8024BD9}"/>
              </a:ext>
            </a:extLst>
          </p:cNvPr>
          <p:cNvCxnSpPr>
            <a:cxnSpLocks/>
          </p:cNvCxnSpPr>
          <p:nvPr/>
        </p:nvCxnSpPr>
        <p:spPr>
          <a:xfrm>
            <a:off x="604673" y="5374679"/>
            <a:ext cx="0" cy="123886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A72FC2-2BC8-30AD-3261-422D80D4334A}"/>
              </a:ext>
            </a:extLst>
          </p:cNvPr>
          <p:cNvCxnSpPr>
            <a:cxnSpLocks/>
          </p:cNvCxnSpPr>
          <p:nvPr/>
        </p:nvCxnSpPr>
        <p:spPr>
          <a:xfrm>
            <a:off x="599761" y="3736213"/>
            <a:ext cx="0" cy="1238864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Microsoft Power Query - Awesome-Astra">
            <a:extLst>
              <a:ext uri="{FF2B5EF4-FFF2-40B4-BE49-F238E27FC236}">
                <a16:creationId xmlns:a16="http://schemas.microsoft.com/office/drawing/2014/main" id="{3D4EAF65-2C75-7AED-7113-16D8F3C60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54" y="5351591"/>
            <a:ext cx="1261110" cy="126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51E7882-99F9-5F11-869F-B8F1326A8E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3953" y="1859526"/>
            <a:ext cx="4330618" cy="48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2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6FC19-CDEE-A923-6691-88E0F0892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966952"/>
            <a:ext cx="12192000" cy="389104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F866C4-DBFD-D142-A2C1-57E31A8BED66}"/>
              </a:ext>
            </a:extLst>
          </p:cNvPr>
          <p:cNvSpPr txBox="1"/>
          <p:nvPr/>
        </p:nvSpPr>
        <p:spPr>
          <a:xfrm>
            <a:off x="511277" y="139798"/>
            <a:ext cx="6420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600" b="1" i="0" dirty="0">
                <a:effectLst/>
                <a:latin typeface="Arial Black" panose="020B0A04020102020204" pitchFamily="34" charset="0"/>
              </a:rPr>
              <a:t>Data Analysis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2695D-2AE0-BE39-6C8B-2341DA15E87A}"/>
              </a:ext>
            </a:extLst>
          </p:cNvPr>
          <p:cNvSpPr txBox="1"/>
          <p:nvPr/>
        </p:nvSpPr>
        <p:spPr>
          <a:xfrm>
            <a:off x="511277" y="92243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Aptos" panose="020B0004020202020204" pitchFamily="34" charset="0"/>
              </a:rPr>
              <a:t>Systematic 5-phase framework from raw data to actionable insights</a:t>
            </a:r>
            <a:endParaRPr lang="en-IN" sz="2800" b="1" dirty="0">
              <a:latin typeface="Aptos" panose="020B0004020202020204" pitchFamily="34" charset="0"/>
            </a:endParaRPr>
          </a:p>
        </p:txBody>
      </p:sp>
      <p:sp>
        <p:nvSpPr>
          <p:cNvPr id="10" name="Flowchart: Delay 9">
            <a:extLst>
              <a:ext uri="{FF2B5EF4-FFF2-40B4-BE49-F238E27FC236}">
                <a16:creationId xmlns:a16="http://schemas.microsoft.com/office/drawing/2014/main" id="{03F7BAA8-F9BA-DA4C-6B10-42395718BFA8}"/>
              </a:ext>
            </a:extLst>
          </p:cNvPr>
          <p:cNvSpPr/>
          <p:nvPr/>
        </p:nvSpPr>
        <p:spPr>
          <a:xfrm rot="5400000">
            <a:off x="9419304" y="-550606"/>
            <a:ext cx="1514168" cy="2615380"/>
          </a:xfrm>
          <a:prstGeom prst="flowChartDelay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68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8CDC427-A575-6430-77B4-34D04A501060}"/>
              </a:ext>
            </a:extLst>
          </p:cNvPr>
          <p:cNvSpPr/>
          <p:nvPr/>
        </p:nvSpPr>
        <p:spPr>
          <a:xfrm>
            <a:off x="5821605" y="179776"/>
            <a:ext cx="1282259" cy="23414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Joins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0E458-0140-54AD-FAD0-D5D91D81EAA7}"/>
              </a:ext>
            </a:extLst>
          </p:cNvPr>
          <p:cNvSpPr txBox="1"/>
          <p:nvPr/>
        </p:nvSpPr>
        <p:spPr>
          <a:xfrm>
            <a:off x="24638" y="66019"/>
            <a:ext cx="70792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400" b="1" i="0" dirty="0">
                <a:effectLst/>
                <a:latin typeface="Arial Rounded MT Bold" panose="020F0704030504030204" pitchFamily="34" charset="0"/>
              </a:rPr>
              <a:t>SQL Analysis &amp; Code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BE7BD-4EC6-D65E-7D85-A33021CD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31" y="645200"/>
            <a:ext cx="1731031" cy="23414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6F80A8-CD70-FBA4-80DF-3B5484E8774F}"/>
              </a:ext>
            </a:extLst>
          </p:cNvPr>
          <p:cNvSpPr/>
          <p:nvPr/>
        </p:nvSpPr>
        <p:spPr>
          <a:xfrm>
            <a:off x="3564251" y="645199"/>
            <a:ext cx="1912699" cy="2341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rPr>
              <a:t>    </a:t>
            </a:r>
            <a:r>
              <a:rPr lang="en-IN" sz="1600" b="1" dirty="0">
                <a:solidFill>
                  <a:schemeClr val="accent4">
                    <a:lumMod val="75000"/>
                  </a:schemeClr>
                </a:solidFill>
                <a:latin typeface="Aptos Display" panose="020B0004020202020204" pitchFamily="34" charset="0"/>
              </a:rPr>
              <a:t>Stored Procedure</a:t>
            </a:r>
          </a:p>
        </p:txBody>
      </p:sp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6CC884D2-B0A5-110F-9518-70D805574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1850" y="179775"/>
            <a:ext cx="234150" cy="2341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C4FAD4-2B86-7283-E9A6-16622C0B6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31" y="3656270"/>
            <a:ext cx="1247980" cy="3048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DA4602-C691-749F-337E-6286E2D151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664" y="3989538"/>
            <a:ext cx="2124371" cy="266737"/>
          </a:xfrm>
          <a:prstGeom prst="rect">
            <a:avLst/>
          </a:prstGeom>
        </p:spPr>
      </p:pic>
      <p:pic>
        <p:nvPicPr>
          <p:cNvPr id="24" name="Graphic 23" descr="Gears with solid fill">
            <a:extLst>
              <a:ext uri="{FF2B5EF4-FFF2-40B4-BE49-F238E27FC236}">
                <a16:creationId xmlns:a16="http://schemas.microsoft.com/office/drawing/2014/main" id="{4D31B523-4826-F7B8-C8B6-FF4372D04B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64251" y="661838"/>
            <a:ext cx="234149" cy="2341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0475C8-7404-B519-7E01-4979D865A7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2" y="936539"/>
            <a:ext cx="3059109" cy="26157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066AEB-6EEE-736F-2F33-DB1B58B8B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059" y="964957"/>
            <a:ext cx="2124372" cy="2587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C4B736-8C63-DA0B-ACED-E6F2147113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31" y="4065125"/>
            <a:ext cx="3059109" cy="26898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A50653-1931-49A1-569F-0CBEB11299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126" y="4459632"/>
            <a:ext cx="2331306" cy="19008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04A929-A797-F420-A285-FDC5323A66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605" y="497556"/>
            <a:ext cx="2942803" cy="281591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27734B2-9B27-CF13-72BC-6CC69E83CA6A}"/>
              </a:ext>
            </a:extLst>
          </p:cNvPr>
          <p:cNvSpPr/>
          <p:nvPr/>
        </p:nvSpPr>
        <p:spPr>
          <a:xfrm>
            <a:off x="9483271" y="135763"/>
            <a:ext cx="1250756" cy="278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E51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KPIs</a:t>
            </a:r>
            <a:endParaRPr lang="en-IN" sz="1600" b="1" dirty="0">
              <a:solidFill>
                <a:srgbClr val="E51B6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Graphic 26" descr="Venn diagram with solid fill">
            <a:extLst>
              <a:ext uri="{FF2B5EF4-FFF2-40B4-BE49-F238E27FC236}">
                <a16:creationId xmlns:a16="http://schemas.microsoft.com/office/drawing/2014/main" id="{7F473946-14A7-5FE5-3B33-33635B82B7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44094" y="145867"/>
            <a:ext cx="268058" cy="26805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893C895-9DA1-7F09-35B2-65FACAF6D7F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582" y="527684"/>
            <a:ext cx="1462556" cy="129948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47848DE-BAB6-7235-FA10-9AD6AE7D61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501" y="527684"/>
            <a:ext cx="1517627" cy="129948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39711E-BAFD-D496-A5D9-40B31E8B6F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093" y="2047122"/>
            <a:ext cx="1753171" cy="138187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DEDA7A2-7E3A-7DDA-F4AC-96E50200A97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018" y="4459632"/>
            <a:ext cx="2475274" cy="190081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E33590F-E249-83F3-B996-DE64CBFAEC6D}"/>
              </a:ext>
            </a:extLst>
          </p:cNvPr>
          <p:cNvSpPr/>
          <p:nvPr/>
        </p:nvSpPr>
        <p:spPr>
          <a:xfrm>
            <a:off x="8868696" y="3640468"/>
            <a:ext cx="2428567" cy="304850"/>
          </a:xfrm>
          <a:prstGeom prst="rect">
            <a:avLst/>
          </a:prstGeom>
          <a:solidFill>
            <a:srgbClr val="FBA9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CY and PY Revenue</a:t>
            </a:r>
            <a:endParaRPr lang="en-IN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Graphic 39" descr="Coins with solid fill">
            <a:extLst>
              <a:ext uri="{FF2B5EF4-FFF2-40B4-BE49-F238E27FC236}">
                <a16:creationId xmlns:a16="http://schemas.microsoft.com/office/drawing/2014/main" id="{1AE5AE61-5B52-F2C5-31BA-8776397F2E1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30858" y="3640468"/>
            <a:ext cx="304850" cy="3048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CAF2BBE-AFF7-177B-06F1-6ED15A087A1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328" y="4459632"/>
            <a:ext cx="1743209" cy="137940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783975C-5C26-4926-CD48-86A445670F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720" y="4459632"/>
            <a:ext cx="1772408" cy="138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08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ABBA9-6947-63F7-7483-89A720EABB5F}"/>
              </a:ext>
            </a:extLst>
          </p:cNvPr>
          <p:cNvSpPr txBox="1"/>
          <p:nvPr/>
        </p:nvSpPr>
        <p:spPr>
          <a:xfrm>
            <a:off x="304800" y="169296"/>
            <a:ext cx="6430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600" b="1" i="0" dirty="0">
                <a:effectLst/>
                <a:latin typeface="Arial Black" panose="020B0A04020102020204" pitchFamily="34" charset="0"/>
              </a:rPr>
              <a:t>Key Insights Discovered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42486-CB8D-533D-2B46-0D5357DA6102}"/>
              </a:ext>
            </a:extLst>
          </p:cNvPr>
          <p:cNvSpPr txBox="1"/>
          <p:nvPr/>
        </p:nvSpPr>
        <p:spPr>
          <a:xfrm>
            <a:off x="304800" y="72888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effectLst/>
                <a:latin typeface="Aptos Display" panose="020B0004020202020204" pitchFamily="34" charset="0"/>
              </a:rPr>
              <a:t>Critical business intelligence derived from SQL analysis</a:t>
            </a:r>
            <a:endParaRPr lang="en-IN" sz="2000" b="1" dirty="0"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4ED11C-15D6-B9C5-7F92-E30C21993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3" y="1591446"/>
            <a:ext cx="3492091" cy="50972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D1A330-683D-C627-10B3-A0AB4851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288" y="1542835"/>
            <a:ext cx="3565423" cy="5162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7BF35C-582B-9777-6234-608A1E591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627" y="1559039"/>
            <a:ext cx="3463354" cy="512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7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4D5357-D163-29FD-AFA7-8DFE404CF039}"/>
              </a:ext>
            </a:extLst>
          </p:cNvPr>
          <p:cNvSpPr txBox="1"/>
          <p:nvPr/>
        </p:nvSpPr>
        <p:spPr>
          <a:xfrm>
            <a:off x="190372" y="8734"/>
            <a:ext cx="6528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1" i="0" dirty="0">
                <a:effectLst/>
                <a:latin typeface="Arial Rounded MT Bold" panose="020F0704030504030204" pitchFamily="34" charset="0"/>
              </a:rPr>
              <a:t>Power BI Dashboard Highlights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83548-6F62-BE82-7C0E-963C39512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72" y="593509"/>
            <a:ext cx="8973293" cy="962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94AC0-898B-6952-B9B2-2899E02CB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71" y="1690295"/>
            <a:ext cx="3901381" cy="2479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27E9DF-ADCC-9FDD-2A53-D2C0D3FA6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6593" y="4269780"/>
            <a:ext cx="3291190" cy="2525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C7A724-1E15-0F85-9B41-2EF6D93B5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55" y="1690295"/>
            <a:ext cx="4118174" cy="2451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919F30-9B40-4AA0-C5D9-0463C1559D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55" y="4216093"/>
            <a:ext cx="4118174" cy="26331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E1CF91-4FBF-251C-A7D6-E7D29FB284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871" y="4236966"/>
            <a:ext cx="3901380" cy="2612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0DA311-DECE-0AD7-F05B-4DB520483E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2" y="593509"/>
            <a:ext cx="2005779" cy="12691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4FECFF-E29D-7C42-55B6-E76B5E72B0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2" y="2364695"/>
            <a:ext cx="2094105" cy="143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9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5AC7AE-249B-5A84-C983-559BEC655491}"/>
              </a:ext>
            </a:extLst>
          </p:cNvPr>
          <p:cNvSpPr txBox="1"/>
          <p:nvPr/>
        </p:nvSpPr>
        <p:spPr>
          <a:xfrm>
            <a:off x="403122" y="120133"/>
            <a:ext cx="7698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600" b="1" i="0" dirty="0">
                <a:effectLst/>
                <a:latin typeface="Arial Black" panose="020B0A04020102020204" pitchFamily="34" charset="0"/>
              </a:rPr>
              <a:t>Business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F8155-D470-ACB3-BDDF-B2C00C101B5E}"/>
              </a:ext>
            </a:extLst>
          </p:cNvPr>
          <p:cNvSpPr txBox="1"/>
          <p:nvPr/>
        </p:nvSpPr>
        <p:spPr>
          <a:xfrm>
            <a:off x="403122" y="6895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Poppins" panose="00000500000000000000" pitchFamily="2" charset="0"/>
              </a:rPr>
              <a:t>Data-driven strategic initiatives for sustainable growth</a:t>
            </a:r>
            <a:endParaRPr lang="en-IN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7869CC-4A5C-52A5-98C6-E8ED2EEB44A1}"/>
              </a:ext>
            </a:extLst>
          </p:cNvPr>
          <p:cNvSpPr/>
          <p:nvPr/>
        </p:nvSpPr>
        <p:spPr>
          <a:xfrm>
            <a:off x="765685" y="1335888"/>
            <a:ext cx="4640826" cy="5200418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/>
          </a:p>
        </p:txBody>
      </p:sp>
      <p:pic>
        <p:nvPicPr>
          <p:cNvPr id="8" name="Graphic 7" descr="Upward trend with solid fill">
            <a:extLst>
              <a:ext uri="{FF2B5EF4-FFF2-40B4-BE49-F238E27FC236}">
                <a16:creationId xmlns:a16="http://schemas.microsoft.com/office/drawing/2014/main" id="{E3BABB74-6DFC-89AF-EACB-760214771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874" y="1547859"/>
            <a:ext cx="528484" cy="5284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D5AA25-0AFA-713E-64C5-812E2120A03F}"/>
              </a:ext>
            </a:extLst>
          </p:cNvPr>
          <p:cNvSpPr txBox="1"/>
          <p:nvPr/>
        </p:nvSpPr>
        <p:spPr>
          <a:xfrm>
            <a:off x="1567016" y="14450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400" b="1" i="0" dirty="0">
                <a:solidFill>
                  <a:srgbClr val="1E293B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Revenue Growth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E8FB8-4F76-2C43-542E-EB0A8C04937F}"/>
              </a:ext>
            </a:extLst>
          </p:cNvPr>
          <p:cNvSpPr txBox="1"/>
          <p:nvPr/>
        </p:nvSpPr>
        <p:spPr>
          <a:xfrm>
            <a:off x="1567016" y="18121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Maximizing top-line performance</a:t>
            </a:r>
            <a:endParaRPr lang="en-IN" b="1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34D79C-AFE0-3C28-F6A2-DB1DED7CD3E1}"/>
              </a:ext>
            </a:extLst>
          </p:cNvPr>
          <p:cNvCxnSpPr/>
          <p:nvPr/>
        </p:nvCxnSpPr>
        <p:spPr>
          <a:xfrm>
            <a:off x="973392" y="2224368"/>
            <a:ext cx="422541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63BB97-3AD8-8B2F-6128-A39B2E55F1B5}"/>
              </a:ext>
            </a:extLst>
          </p:cNvPr>
          <p:cNvSpPr txBox="1"/>
          <p:nvPr/>
        </p:nvSpPr>
        <p:spPr>
          <a:xfrm>
            <a:off x="868922" y="2258308"/>
            <a:ext cx="4434349" cy="120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334155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Strategic Restaurant Partnerships</a:t>
            </a:r>
          </a:p>
          <a:p>
            <a:pPr algn="l">
              <a:buNone/>
            </a:pPr>
            <a:r>
              <a:rPr lang="en-US" sz="1600" b="0" i="0" dirty="0">
                <a:solidFill>
                  <a:schemeClr val="accent1"/>
                </a:solidFill>
                <a:effectLst/>
                <a:latin typeface="Aptos Display" panose="020B0004020202020204" pitchFamily="34" charset="0"/>
              </a:rPr>
              <a:t>Collaborate with top 20% performing restaurants (identified via SQL ranking) to create exclusive bundles and priority placement, driving higher AOV.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FAD600-E9C7-BCFB-3864-66AA4EDF960C}"/>
              </a:ext>
            </a:extLst>
          </p:cNvPr>
          <p:cNvSpPr txBox="1"/>
          <p:nvPr/>
        </p:nvSpPr>
        <p:spPr>
          <a:xfrm>
            <a:off x="908250" y="3492963"/>
            <a:ext cx="4498259" cy="157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334155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High-Value Loyalty Program</a:t>
            </a:r>
          </a:p>
          <a:p>
            <a:pPr algn="l"/>
            <a:r>
              <a:rPr lang="en-US" b="0" i="0" dirty="0">
                <a:solidFill>
                  <a:schemeClr val="accent1"/>
                </a:solidFill>
                <a:effectLst/>
                <a:latin typeface="Aptos Display" panose="020B0004020202020204" pitchFamily="34" charset="0"/>
              </a:rPr>
              <a:t>Implement a tiered rewards system for customers with &gt;$500 lifetime spend. Data shows this segment retains 3x better than average.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B8E2A0-AA09-7E6B-E90D-8724DF8974DE}"/>
              </a:ext>
            </a:extLst>
          </p:cNvPr>
          <p:cNvSpPr txBox="1"/>
          <p:nvPr/>
        </p:nvSpPr>
        <p:spPr>
          <a:xfrm>
            <a:off x="908250" y="5081492"/>
            <a:ext cx="4329879" cy="1295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334155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Dynamic Commission Modeling</a:t>
            </a:r>
          </a:p>
          <a:p>
            <a:pPr algn="l"/>
            <a:r>
              <a:rPr lang="en-US" b="0" i="0" dirty="0">
                <a:solidFill>
                  <a:schemeClr val="accent1"/>
                </a:solidFill>
                <a:effectLst/>
                <a:latin typeface="Aptos Display" panose="020B0004020202020204" pitchFamily="34" charset="0"/>
              </a:rPr>
              <a:t>Introduce flexible commission rates for new partners during peak hours to onboard more high-demand cuisines.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55B3B8A-F2D1-B520-4431-67B8F9ED3283}"/>
              </a:ext>
            </a:extLst>
          </p:cNvPr>
          <p:cNvSpPr/>
          <p:nvPr/>
        </p:nvSpPr>
        <p:spPr>
          <a:xfrm>
            <a:off x="6096000" y="1335888"/>
            <a:ext cx="4498259" cy="5195932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Graphic 24" descr="Gears with solid fill">
            <a:extLst>
              <a:ext uri="{FF2B5EF4-FFF2-40B4-BE49-F238E27FC236}">
                <a16:creationId xmlns:a16="http://schemas.microsoft.com/office/drawing/2014/main" id="{B41AF277-F18F-7F7D-0C0F-C3F62F17D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7842" y="1499118"/>
            <a:ext cx="747252" cy="7472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DFFF0FC-B5FE-F867-C966-51B39DE0A670}"/>
              </a:ext>
            </a:extLst>
          </p:cNvPr>
          <p:cNvSpPr txBox="1"/>
          <p:nvPr/>
        </p:nvSpPr>
        <p:spPr>
          <a:xfrm>
            <a:off x="6813750" y="1404297"/>
            <a:ext cx="6096000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1E293B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Operational Efficiency</a:t>
            </a:r>
          </a:p>
          <a:p>
            <a:pPr algn="l">
              <a:spcBef>
                <a:spcPts val="300"/>
              </a:spcBef>
              <a:buNone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</a:rPr>
              <a:t>Reducing friction &amp; costs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ECE175-CD15-CE93-CF75-B1BB2B01FA26}"/>
              </a:ext>
            </a:extLst>
          </p:cNvPr>
          <p:cNvSpPr txBox="1"/>
          <p:nvPr/>
        </p:nvSpPr>
        <p:spPr>
          <a:xfrm>
            <a:off x="6274205" y="2369931"/>
            <a:ext cx="3962401" cy="1295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334155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Reduce Cancellation Rate</a:t>
            </a:r>
          </a:p>
          <a:p>
            <a:pPr algn="l"/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Target the cancellation rate by optimizing order assignment algorithms to reduce driver wait times.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A62D29-D341-7AF2-1425-A1336C9F49D4}"/>
              </a:ext>
            </a:extLst>
          </p:cNvPr>
          <p:cNvCxnSpPr/>
          <p:nvPr/>
        </p:nvCxnSpPr>
        <p:spPr>
          <a:xfrm>
            <a:off x="6274205" y="2224368"/>
            <a:ext cx="422541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DB28FA3-15B5-8824-E1F5-94CAF0A4F4C0}"/>
              </a:ext>
            </a:extLst>
          </p:cNvPr>
          <p:cNvSpPr txBox="1"/>
          <p:nvPr/>
        </p:nvSpPr>
        <p:spPr>
          <a:xfrm>
            <a:off x="6241023" y="3719093"/>
            <a:ext cx="4291774" cy="1295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334155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Optimize Partner Allocation</a:t>
            </a:r>
          </a:p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Aptos" panose="020B0004020202020204" pitchFamily="34" charset="0"/>
              </a:rPr>
              <a:t>Prioritize bike couriers for short-distance (&lt;3km) orders in congested zones to improve delivery speed by 20%.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BA192A-E624-5C29-B992-6503CBEF1CEE}"/>
              </a:ext>
            </a:extLst>
          </p:cNvPr>
          <p:cNvSpPr/>
          <p:nvPr/>
        </p:nvSpPr>
        <p:spPr>
          <a:xfrm>
            <a:off x="6394655" y="5496447"/>
            <a:ext cx="3254478" cy="4653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Graphic 34" descr="Stopwatch with solid fill">
            <a:extLst>
              <a:ext uri="{FF2B5EF4-FFF2-40B4-BE49-F238E27FC236}">
                <a16:creationId xmlns:a16="http://schemas.microsoft.com/office/drawing/2014/main" id="{64FB05B4-E84A-A195-81CD-55477155AE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4655" y="5496447"/>
            <a:ext cx="451864" cy="45186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41A6359-8334-B6F9-4AD4-870FD477446E}"/>
              </a:ext>
            </a:extLst>
          </p:cNvPr>
          <p:cNvSpPr txBox="1"/>
          <p:nvPr/>
        </p:nvSpPr>
        <p:spPr>
          <a:xfrm>
            <a:off x="6759671" y="5545403"/>
            <a:ext cx="32544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Goal: Cut cancellations by 50%</a:t>
            </a:r>
            <a:endParaRPr lang="en-IN" sz="2000" dirty="0">
              <a:solidFill>
                <a:schemeClr val="accent6">
                  <a:lumMod val="7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096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AD2C4-B3FB-6D7E-B369-CC179E0F751C}"/>
              </a:ext>
            </a:extLst>
          </p:cNvPr>
          <p:cNvSpPr txBox="1"/>
          <p:nvPr/>
        </p:nvSpPr>
        <p:spPr>
          <a:xfrm>
            <a:off x="344129" y="119286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effectLst/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Conclusion &amp; Impact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Aptos Display" panose="020B0004020202020204" pitchFamily="34" charset="0"/>
              </a:rPr>
              <a:t>Delivering value through data-driven insights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530522-89A8-C875-7373-CDB7E91E8E94}"/>
              </a:ext>
            </a:extLst>
          </p:cNvPr>
          <p:cNvSpPr/>
          <p:nvPr/>
        </p:nvSpPr>
        <p:spPr>
          <a:xfrm>
            <a:off x="1538748" y="1093839"/>
            <a:ext cx="4060723" cy="5496232"/>
          </a:xfrm>
          <a:prstGeom prst="roundRect">
            <a:avLst/>
          </a:prstGeom>
          <a:solidFill>
            <a:schemeClr val="tx1">
              <a:lumMod val="85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3CD05A-925E-F132-4E0D-A23BA1825356}"/>
              </a:ext>
            </a:extLst>
          </p:cNvPr>
          <p:cNvSpPr/>
          <p:nvPr/>
        </p:nvSpPr>
        <p:spPr>
          <a:xfrm>
            <a:off x="6617107" y="1093839"/>
            <a:ext cx="4060723" cy="5496232"/>
          </a:xfrm>
          <a:prstGeom prst="roundRect">
            <a:avLst/>
          </a:prstGeom>
          <a:solidFill>
            <a:schemeClr val="tx1">
              <a:lumMod val="85000"/>
            </a:schemeClr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Graphic 6" descr="Trophy with solid fill">
            <a:extLst>
              <a:ext uri="{FF2B5EF4-FFF2-40B4-BE49-F238E27FC236}">
                <a16:creationId xmlns:a16="http://schemas.microsoft.com/office/drawing/2014/main" id="{6FBAF29E-BB2F-434C-F21F-E0D94B335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7718" y="1093839"/>
            <a:ext cx="508819" cy="5088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AC54DA-C355-0C02-0872-99F406F563A7}"/>
              </a:ext>
            </a:extLst>
          </p:cNvPr>
          <p:cNvSpPr txBox="1"/>
          <p:nvPr/>
        </p:nvSpPr>
        <p:spPr>
          <a:xfrm>
            <a:off x="344127" y="1582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Project Achievements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5B96B6-5D5F-BCCB-DAF6-7EE244B11EC6}"/>
              </a:ext>
            </a:extLst>
          </p:cNvPr>
          <p:cNvSpPr txBox="1"/>
          <p:nvPr/>
        </p:nvSpPr>
        <p:spPr>
          <a:xfrm>
            <a:off x="1430591" y="1906751"/>
            <a:ext cx="406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i="0" cap="all" dirty="0">
                <a:solidFill>
                  <a:schemeClr val="accent1"/>
                </a:solidFill>
                <a:effectLst/>
                <a:latin typeface="Arial Narrow" panose="020B0606020202030204" pitchFamily="34" charset="0"/>
              </a:rPr>
              <a:t>Deliverables &amp; Milestones</a:t>
            </a:r>
            <a:endParaRPr lang="en-IN" dirty="0">
              <a:solidFill>
                <a:schemeClr val="accent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2888A5-34AB-B40C-E9B4-36694BA71F2D}"/>
              </a:ext>
            </a:extLst>
          </p:cNvPr>
          <p:cNvCxnSpPr/>
          <p:nvPr/>
        </p:nvCxnSpPr>
        <p:spPr>
          <a:xfrm>
            <a:off x="1523999" y="2300579"/>
            <a:ext cx="4060723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581E356-42E1-2732-ECE6-C219F2898B6D}"/>
              </a:ext>
            </a:extLst>
          </p:cNvPr>
          <p:cNvSpPr/>
          <p:nvPr/>
        </p:nvSpPr>
        <p:spPr>
          <a:xfrm>
            <a:off x="1720646" y="2511972"/>
            <a:ext cx="3539612" cy="5087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End-to-End Data Pipeline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721295D-DFB8-0CC3-DACC-6DA9C67DB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962" y="2607731"/>
            <a:ext cx="276225" cy="29527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3EFD528-B47C-46F3-745E-3F0D5419EC4B}"/>
              </a:ext>
            </a:extLst>
          </p:cNvPr>
          <p:cNvSpPr/>
          <p:nvPr/>
        </p:nvSpPr>
        <p:spPr>
          <a:xfrm>
            <a:off x="1720645" y="3212626"/>
            <a:ext cx="3539611" cy="5087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25+ Optimized SQL Queries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80E4E7-4BAC-900D-183E-020D6550A9F4}"/>
              </a:ext>
            </a:extLst>
          </p:cNvPr>
          <p:cNvSpPr/>
          <p:nvPr/>
        </p:nvSpPr>
        <p:spPr>
          <a:xfrm>
            <a:off x="1720646" y="3924281"/>
            <a:ext cx="3539610" cy="5087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Interactive Power BI Dashboard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B1B065-7636-85E3-3DC4-EDC97C62EB69}"/>
              </a:ext>
            </a:extLst>
          </p:cNvPr>
          <p:cNvSpPr/>
          <p:nvPr/>
        </p:nvSpPr>
        <p:spPr>
          <a:xfrm>
            <a:off x="1750143" y="4635936"/>
            <a:ext cx="3510114" cy="5087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Actionable Business Report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7AD3EAB-4872-2078-CD2C-AE84E55DA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255" y="3321998"/>
            <a:ext cx="285750" cy="3048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65375D3-739B-AA94-79A7-D38E91C22B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1287" y="4032217"/>
            <a:ext cx="342900" cy="3238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2B87570-6ECE-A34C-365C-416B47C3D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2724" y="4723645"/>
            <a:ext cx="266700" cy="333375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FA1587C-935C-0174-6C6E-85F022A93A4D}"/>
              </a:ext>
            </a:extLst>
          </p:cNvPr>
          <p:cNvCxnSpPr/>
          <p:nvPr/>
        </p:nvCxnSpPr>
        <p:spPr>
          <a:xfrm>
            <a:off x="1538747" y="5437154"/>
            <a:ext cx="4060723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C053BB6-D73A-900F-6F45-69B9621B5365}"/>
              </a:ext>
            </a:extLst>
          </p:cNvPr>
          <p:cNvSpPr txBox="1"/>
          <p:nvPr/>
        </p:nvSpPr>
        <p:spPr>
          <a:xfrm>
            <a:off x="2410748" y="5748699"/>
            <a:ext cx="2899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Business Ready Solution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240C71BE-FE5B-A84B-3BE7-9FA39696417A}"/>
              </a:ext>
            </a:extLst>
          </p:cNvPr>
          <p:cNvSpPr/>
          <p:nvPr/>
        </p:nvSpPr>
        <p:spPr>
          <a:xfrm>
            <a:off x="1888255" y="5729578"/>
            <a:ext cx="451822" cy="369331"/>
          </a:xfrm>
          <a:prstGeom prst="star5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36792D-27C9-FF4B-FB02-60E228222614}"/>
              </a:ext>
            </a:extLst>
          </p:cNvPr>
          <p:cNvCxnSpPr>
            <a:cxnSpLocks/>
          </p:cNvCxnSpPr>
          <p:nvPr/>
        </p:nvCxnSpPr>
        <p:spPr>
          <a:xfrm>
            <a:off x="6658896" y="2300579"/>
            <a:ext cx="3977149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AE1A43-32EC-70E9-7F69-0905C7197810}"/>
              </a:ext>
            </a:extLst>
          </p:cNvPr>
          <p:cNvCxnSpPr>
            <a:cxnSpLocks/>
          </p:cNvCxnSpPr>
          <p:nvPr/>
        </p:nvCxnSpPr>
        <p:spPr>
          <a:xfrm>
            <a:off x="6658896" y="5437154"/>
            <a:ext cx="3977149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Tools with solid fill">
            <a:extLst>
              <a:ext uri="{FF2B5EF4-FFF2-40B4-BE49-F238E27FC236}">
                <a16:creationId xmlns:a16="http://schemas.microsoft.com/office/drawing/2014/main" id="{6CF5BF26-9DC0-8287-A8F6-AD73BDD617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42967" y="1174702"/>
            <a:ext cx="409004" cy="409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FCC3090-99A2-93A7-5CCF-CA5B0CC0B1A5}"/>
              </a:ext>
            </a:extLst>
          </p:cNvPr>
          <p:cNvSpPr txBox="1"/>
          <p:nvPr/>
        </p:nvSpPr>
        <p:spPr>
          <a:xfrm>
            <a:off x="5628482" y="149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Skills Demonstrated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2EECDE-D6D4-CBF0-A2A4-D7D9317344D1}"/>
              </a:ext>
            </a:extLst>
          </p:cNvPr>
          <p:cNvSpPr txBox="1"/>
          <p:nvPr/>
        </p:nvSpPr>
        <p:spPr>
          <a:xfrm>
            <a:off x="5628482" y="18310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cap="all" dirty="0">
                <a:solidFill>
                  <a:schemeClr val="accent1"/>
                </a:solidFill>
                <a:effectLst/>
                <a:latin typeface="Arial Narrow" panose="020B0606020202030204" pitchFamily="34" charset="0"/>
                <a:ea typeface="Noto Sans Medium" panose="020B0502040504020204" pitchFamily="34" charset="0"/>
                <a:cs typeface="Noto Sans Medium" panose="020B0502040504020204" pitchFamily="34" charset="0"/>
              </a:rPr>
              <a:t>Technical &amp; Analytical</a:t>
            </a:r>
            <a:endParaRPr lang="en-IN" dirty="0">
              <a:solidFill>
                <a:schemeClr val="accent1"/>
              </a:solidFill>
              <a:latin typeface="Arial Narrow" panose="020B060602020203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pic>
        <p:nvPicPr>
          <p:cNvPr id="48" name="Graphic 47" descr="Laptop with solid fill">
            <a:extLst>
              <a:ext uri="{FF2B5EF4-FFF2-40B4-BE49-F238E27FC236}">
                <a16:creationId xmlns:a16="http://schemas.microsoft.com/office/drawing/2014/main" id="{A1F040F1-4985-0E87-9E97-E23F375B73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64477" y="5652280"/>
            <a:ext cx="496529" cy="49652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8AFAF1C-3163-5905-3BCC-BC9BD9438201}"/>
              </a:ext>
            </a:extLst>
          </p:cNvPr>
          <p:cNvSpPr txBox="1"/>
          <p:nvPr/>
        </p:nvSpPr>
        <p:spPr>
          <a:xfrm>
            <a:off x="7742903" y="5683298"/>
            <a:ext cx="2725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Full Stack Analysis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51" name="Flowchart: Terminator 50">
            <a:extLst>
              <a:ext uri="{FF2B5EF4-FFF2-40B4-BE49-F238E27FC236}">
                <a16:creationId xmlns:a16="http://schemas.microsoft.com/office/drawing/2014/main" id="{8E0336D8-708D-3501-6E88-AB969EF5A079}"/>
              </a:ext>
            </a:extLst>
          </p:cNvPr>
          <p:cNvSpPr/>
          <p:nvPr/>
        </p:nvSpPr>
        <p:spPr>
          <a:xfrm>
            <a:off x="6794093" y="2419331"/>
            <a:ext cx="1573160" cy="370817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ea typeface="Noto Sans Medium" panose="020B0502040504020204" pitchFamily="34" charset="0"/>
                <a:cs typeface="Noto Sans Medium" panose="020B0502040504020204" pitchFamily="34" charset="0"/>
              </a:rPr>
              <a:t>Advanced SQL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sp>
        <p:nvSpPr>
          <p:cNvPr id="52" name="Flowchart: Terminator 51">
            <a:extLst>
              <a:ext uri="{FF2B5EF4-FFF2-40B4-BE49-F238E27FC236}">
                <a16:creationId xmlns:a16="http://schemas.microsoft.com/office/drawing/2014/main" id="{516EF0B5-AFC9-1CA5-6DCD-BBE7893BC102}"/>
              </a:ext>
            </a:extLst>
          </p:cNvPr>
          <p:cNvSpPr/>
          <p:nvPr/>
        </p:nvSpPr>
        <p:spPr>
          <a:xfrm>
            <a:off x="8488687" y="2438161"/>
            <a:ext cx="1920229" cy="351987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CTEs &amp; Subqueries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sp>
        <p:nvSpPr>
          <p:cNvPr id="53" name="Flowchart: Terminator 52">
            <a:extLst>
              <a:ext uri="{FF2B5EF4-FFF2-40B4-BE49-F238E27FC236}">
                <a16:creationId xmlns:a16="http://schemas.microsoft.com/office/drawing/2014/main" id="{240B8D2F-3744-601E-753A-C7CE171E5325}"/>
              </a:ext>
            </a:extLst>
          </p:cNvPr>
          <p:cNvSpPr/>
          <p:nvPr/>
        </p:nvSpPr>
        <p:spPr>
          <a:xfrm>
            <a:off x="6846168" y="4679026"/>
            <a:ext cx="1920228" cy="505735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Data Modelling</a:t>
            </a:r>
            <a:endParaRPr lang="en-IN" sz="1600" b="1" dirty="0">
              <a:solidFill>
                <a:srgbClr val="7030A0"/>
              </a:solidFill>
              <a:latin typeface="Arial Narrow" panose="020B060602020203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id="{2072AE96-AE07-932A-2C40-5152231748D3}"/>
              </a:ext>
            </a:extLst>
          </p:cNvPr>
          <p:cNvSpPr/>
          <p:nvPr/>
        </p:nvSpPr>
        <p:spPr>
          <a:xfrm>
            <a:off x="8628063" y="3289606"/>
            <a:ext cx="1920229" cy="463777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Window Functions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sp>
        <p:nvSpPr>
          <p:cNvPr id="56" name="Flowchart: Terminator 55">
            <a:extLst>
              <a:ext uri="{FF2B5EF4-FFF2-40B4-BE49-F238E27FC236}">
                <a16:creationId xmlns:a16="http://schemas.microsoft.com/office/drawing/2014/main" id="{6FB3B626-3AC6-C3BF-FE51-A3DE0D900E31}"/>
              </a:ext>
            </a:extLst>
          </p:cNvPr>
          <p:cNvSpPr/>
          <p:nvPr/>
        </p:nvSpPr>
        <p:spPr>
          <a:xfrm>
            <a:off x="7766008" y="3999955"/>
            <a:ext cx="1920228" cy="505734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Data Cleaning</a:t>
            </a:r>
            <a:endParaRPr lang="en-IN" sz="1600" b="1" dirty="0">
              <a:solidFill>
                <a:srgbClr val="7030A0"/>
              </a:solidFill>
              <a:latin typeface="Arial Narrow" panose="020B060602020203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sp>
        <p:nvSpPr>
          <p:cNvPr id="58" name="Flowchart: Terminator 57">
            <a:extLst>
              <a:ext uri="{FF2B5EF4-FFF2-40B4-BE49-F238E27FC236}">
                <a16:creationId xmlns:a16="http://schemas.microsoft.com/office/drawing/2014/main" id="{567E659D-9E97-ACDC-9B3E-FA5A0E654D71}"/>
              </a:ext>
            </a:extLst>
          </p:cNvPr>
          <p:cNvSpPr/>
          <p:nvPr/>
        </p:nvSpPr>
        <p:spPr>
          <a:xfrm>
            <a:off x="6714454" y="3267289"/>
            <a:ext cx="1784071" cy="442995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Stored Procedures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  <p:sp>
        <p:nvSpPr>
          <p:cNvPr id="59" name="Flowchart: Terminator 58">
            <a:extLst>
              <a:ext uri="{FF2B5EF4-FFF2-40B4-BE49-F238E27FC236}">
                <a16:creationId xmlns:a16="http://schemas.microsoft.com/office/drawing/2014/main" id="{99817963-4CED-A7F9-D3BE-0D07E9BAC303}"/>
              </a:ext>
            </a:extLst>
          </p:cNvPr>
          <p:cNvSpPr/>
          <p:nvPr/>
        </p:nvSpPr>
        <p:spPr>
          <a:xfrm>
            <a:off x="8805726" y="4680953"/>
            <a:ext cx="1773762" cy="463777"/>
          </a:xfrm>
          <a:prstGeom prst="flowChartTermina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7030A0"/>
                </a:solidFill>
                <a:latin typeface="Arial Narrow" panose="020B0606020202030204" pitchFamily="34" charset="0"/>
              </a:rPr>
              <a:t>Power BI / DAX</a:t>
            </a:r>
            <a:endParaRPr lang="en-IN" sz="1600" b="1" dirty="0">
              <a:solidFill>
                <a:srgbClr val="7030A0"/>
              </a:solidFill>
              <a:latin typeface="Arial Narrow" panose="020B0606020202030204" pitchFamily="34" charset="0"/>
              <a:ea typeface="Noto Sans Medium" panose="020B0502040504020204" pitchFamily="34" charset="0"/>
              <a:cs typeface="Noto Sans Mediu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18442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2209</TotalTime>
  <Words>570</Words>
  <Application>Microsoft Office PowerPoint</Application>
  <PresentationFormat>Widescreen</PresentationFormat>
  <Paragraphs>118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Aparajita</vt:lpstr>
      <vt:lpstr>Aptos</vt:lpstr>
      <vt:lpstr>Aptos Display</vt:lpstr>
      <vt:lpstr>Arial</vt:lpstr>
      <vt:lpstr>Arial Black</vt:lpstr>
      <vt:lpstr>Arial Narrow</vt:lpstr>
      <vt:lpstr>Arial Rounded MT Bold</vt:lpstr>
      <vt:lpstr>Bookman Old Style</vt:lpstr>
      <vt:lpstr>Calibri</vt:lpstr>
      <vt:lpstr>Century</vt:lpstr>
      <vt:lpstr>Corbel</vt:lpstr>
      <vt:lpstr>Noto Sans SemiBold</vt:lpstr>
      <vt:lpstr>Poppins</vt:lpstr>
      <vt:lpstr>Segoe UI Black</vt:lpstr>
      <vt:lpstr>Wingdings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Nirwan</dc:creator>
  <cp:lastModifiedBy>Divya Nirwan</cp:lastModifiedBy>
  <cp:revision>11</cp:revision>
  <dcterms:created xsi:type="dcterms:W3CDTF">2026-02-03T09:38:27Z</dcterms:created>
  <dcterms:modified xsi:type="dcterms:W3CDTF">2026-02-16T12:03:02Z</dcterms:modified>
</cp:coreProperties>
</file>